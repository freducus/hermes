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Typography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87" y="127000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latin typeface="Helvetica-Bold"/>
              </a:rPr>
              <a:t>Helvetica Bold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37" y="127000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1" sz="1200">
                <a:latin typeface="Times-Roman"/>
              </a:rPr>
              <a:t>Times-Roman 12 italic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187" y="127000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C62828"/>
                </a:solidFill>
                <a:latin typeface="Courier"/>
              </a:rPr>
              <a:t>Courier 10 bold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" y="386644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565C0"/>
                </a:solidFill>
                <a:latin typeface="Times-Bold"/>
              </a:rPr>
              <a:t>Times-Bold 16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37" y="386644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12121"/>
                </a:solidFill>
              </a:rPr>
              <a:t>Helvetica 11 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187" y="386644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2E7D32"/>
                </a:solidFill>
                <a:latin typeface="Courier-Bold"/>
              </a:rPr>
              <a:t>Courier-Bold 9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" y="646288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16161"/>
                </a:solidFill>
                <a:latin typeface="Helvetica-Oblique"/>
              </a:rPr>
              <a:t>Helvetica-Oblique 13 gray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37" y="646288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A1B9A"/>
                </a:solidFill>
                <a:latin typeface="Times-Italic"/>
              </a:rPr>
              <a:t>Times-Italic 15 dark magenta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187" y="646288"/>
            <a:ext cx="288925" cy="242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00695C"/>
                </a:solidFill>
              </a:rPr>
              <a:t>Helvetica 9 teal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Plots 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Data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87" y="127000"/>
            <a:ext cx="43576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Helvetica-Bold"/>
              </a:rPr>
              <a:t>Zebra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343" y="127000"/>
            <a:ext cx="43576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4E79"/>
                </a:solidFill>
                <a:latin typeface="Times-Bold"/>
              </a:rPr>
              <a:t>Engineering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287" y="520700"/>
          <a:ext cx="885825" cy="36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65"/>
                <a:gridCol w="177165"/>
                <a:gridCol w="177165"/>
                <a:gridCol w="177165"/>
                <a:gridCol w="177165"/>
              </a:tblGrid>
              <a:tr h="7366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Deviation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73660">
                <a:tc>
                  <a:txBody>
                    <a:bodyPr/>
                    <a:lstStyle/>
                    <a:p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  <a:tr h="73660">
                <a:tc>
                  <a:txBody>
                    <a:bodyPr/>
                    <a:lstStyle/>
                    <a:p>
                      <a:r>
                        <a:t>Power (kW)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250.0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240.0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73660">
                <a:tc>
                  <a:txBody>
                    <a:bodyPr/>
                    <a:lstStyle/>
                    <a:p>
                      <a:r>
                        <a:t>Temperature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/>
                </a:tc>
              </a:tr>
              <a:tr h="73660">
                <a:tc>
                  <a:txBody>
                    <a:bodyPr/>
                    <a:lstStyle/>
                    <a:p>
                      <a:r>
                        <a:t>Pressure (bar)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101.3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1.3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" y="383822"/>
            <a:ext cx="292100" cy="248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latin typeface="Times-Roman"/>
              </a:rPr>
              <a:t>Summary:
All systems nominal.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150" y="383822"/>
            <a:ext cx="292100" cy="248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65100"/>
                </a:solidFill>
                <a:latin typeface="Helvetica-Bold"/>
              </a:rPr>
              <a:t>Warnings: 1
Critical: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870" y="383822"/>
            <a:ext cx="292100" cy="248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latin typeface="Courier"/>
              </a:rPr>
              <a:t>Uptime: 99.8%
Status: OK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" y="645724"/>
          <a:ext cx="891540" cy="248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"/>
                <a:gridCol w="297180"/>
                <a:gridCol w="297180"/>
              </a:tblGrid>
              <a:tr h="41392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 (C)</a:t>
                      </a:r>
                    </a:p>
                  </a:txBody>
                  <a:tcPr/>
                </a:tc>
              </a:tr>
              <a:tr h="41392">
                <a:tc>
                  <a:txBody>
                    <a:bodyPr/>
                    <a:lstStyle/>
                    <a:p>
                      <a:r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45.2</a:t>
                      </a:r>
                    </a:p>
                  </a:txBody>
                  <a:tcPr/>
                </a:tc>
              </a:tr>
              <a:tr h="41392">
                <a:tc>
                  <a:txBody>
                    <a:bodyPr/>
                    <a:lstStyle/>
                    <a:p>
                      <a:r>
                        <a:t>Valve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38.1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41392">
                <a:tc>
                  <a:txBody>
                    <a:bodyPr/>
                    <a:lstStyle/>
                    <a:p>
                      <a:r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72.8</a:t>
                      </a:r>
                    </a:p>
                  </a:txBody>
                  <a:tcPr/>
                </a:tc>
              </a:tr>
              <a:tr h="41392">
                <a:tc>
                  <a:txBody>
                    <a:bodyPr/>
                    <a:lstStyle/>
                    <a:p>
                      <a:r>
                        <a:t>Actuator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41.5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41395"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Nested Layouts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Container element with sub-grids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87" y="127000"/>
            <a:ext cx="435768" cy="24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latin typeface="Helvetica-Bold"/>
              </a:rPr>
              <a:t>Top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" y="384386"/>
            <a:ext cx="435768" cy="24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Times-Roman"/>
              </a:rPr>
              <a:t>Middle panel with 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" y="641773"/>
            <a:ext cx="435768" cy="24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1" sz="900">
                <a:solidFill>
                  <a:srgbClr val="2E7D32"/>
                </a:solidFill>
                <a:latin typeface="Courier"/>
              </a:rPr>
              <a:t>Bottom panel, all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343" y="127000"/>
            <a:ext cx="215026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A1B9A"/>
                </a:solidFill>
                <a:latin typeface="Times-Bol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085" y="127000"/>
            <a:ext cx="215026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F360C"/>
                </a:solidFill>
                <a:latin typeface="Helvetica-Bold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43" y="513080"/>
            <a:ext cx="215026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00695C"/>
                </a:solidFill>
                <a:latin typeface="Courier-Bold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085" y="513080"/>
            <a:ext cx="215026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65100"/>
                </a:solidFill>
                <a:latin typeface="Times-Italic"/>
              </a:rP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Detailed Analysis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Technical notes across multiple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287" y="127000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212121"/>
                </a:solidFill>
                <a:latin typeface="Times-Roman"/>
              </a:rPr>
              <a:t>The simulation converged after 312 iterations. The residual dropped below 1e-6. Mesh quality was adequate.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37" y="127000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24242"/>
                </a:solidFill>
                <a:latin typeface="Helvetica"/>
              </a:rPr>
              <a:t>Temperature distribution shows a maximum gradient of 15 K/m near the leading edge. Further refinement recommended.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187" y="127000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333333"/>
                </a:solidFill>
                <a:latin typeface="Courier"/>
              </a:rPr>
              <a:t>Pressure coefficient matches experimental data within 3% across the entire chord. Validation criteria met.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" y="516466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C62828"/>
                </a:solidFill>
                <a:latin typeface="Helvetica-Bold"/>
              </a:rPr>
              <a:t>WARNING: Temperature exceeds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37" y="516466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i="1" sz="1000">
                <a:solidFill>
                  <a:srgbClr val="2E7D32"/>
                </a:solidFill>
                <a:latin typeface="Times-Roman"/>
              </a:rPr>
              <a:t>All other parameters nominal.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187" y="516466"/>
            <a:ext cx="288925" cy="37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16161"/>
                </a:solidFill>
                <a:latin typeface="Helvetica"/>
              </a:rPr>
              <a:t>Report generated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TableSpec Demo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For-loops, spans, column formatting,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287" y="127000"/>
          <a:ext cx="4371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9"/>
                <a:gridCol w="109299"/>
                <a:gridCol w="109299"/>
                <a:gridCol w="109300"/>
              </a:tblGrid>
              <a:tr h="74168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Mach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Efficiency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4168">
                <a:tc gridSpan="4"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Engine Test 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741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91.0%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26.30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741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1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0.450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72.0%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18.10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2915" y="127000"/>
          <a:ext cx="4371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9"/>
                <a:gridCol w="109299"/>
                <a:gridCol w="109299"/>
                <a:gridCol w="109300"/>
              </a:tblGrid>
              <a:tr h="6180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Iteration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Continuity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X-Momentum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Y-Momentum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1806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0.0015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806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806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0.00014000000000000001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0.00022666666666666668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806"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810"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0.00030000000000000003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8.400000000000001e-05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0.000136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287" y="518160"/>
          <a:ext cx="4371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9"/>
                <a:gridCol w="109299"/>
                <a:gridCol w="109299"/>
                <a:gridCol w="109300"/>
              </a:tblGrid>
              <a:tr h="5297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Efficiency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2977">
                <a:tc rowSpan="2">
                  <a:txBody>
                    <a:bodyPr/>
                    <a:lstStyle/>
                    <a:p>
                      <a:r>
                        <a:t>Stage 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977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91.0%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1.72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52977">
                <a:tc rowSpan="2">
                  <a:txBody>
                    <a:bodyPr/>
                    <a:lstStyle/>
                    <a:p>
                      <a:r>
                        <a:t>Stage 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977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92.0%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1.75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52977">
                <a:tc rowSpan="2">
                  <a:txBody>
                    <a:bodyPr/>
                    <a:lstStyle/>
                    <a:p>
                      <a:r>
                        <a:t>Stage 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97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93.0%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1.78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2915" y="518160"/>
          <a:ext cx="43719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99"/>
                <a:gridCol w="109299"/>
                <a:gridCol w="109299"/>
                <a:gridCol w="109300"/>
              </a:tblGrid>
              <a:tr h="4120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Temp (°C)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Pressure (kPa)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Vibration (mm/s)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78.0</a:t>
                      </a:r>
                    </a:p>
                  </a:txBody>
                  <a:tcPr>
                    <a:solidFill>
                      <a:srgbClr val="A45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S02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70.7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0.891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76.3</a:t>
                      </a:r>
                    </a:p>
                  </a:txBody>
                  <a:tcPr>
                    <a:solidFill>
                      <a:srgbClr val="8C72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S04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66.5</a:t>
                      </a:r>
                    </a:p>
                  </a:txBody>
                  <a:tcPr>
                    <a:solidFill>
                      <a:srgbClr val="01F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113.2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0.733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75.7</a:t>
                      </a:r>
                    </a:p>
                  </a:txBody>
                  <a:tcPr>
                    <a:solidFill>
                      <a:srgbClr val="837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S06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66.4</a:t>
                      </a:r>
                    </a:p>
                  </a:txBody>
                  <a:tcP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105.5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0.788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41204">
                <a:tc>
                  <a:txBody>
                    <a:bodyPr/>
                    <a:lstStyle/>
                    <a:p>
                      <a:r>
                        <a:t>S07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83.8</a:t>
                      </a:r>
                    </a:p>
                  </a:txBody>
                  <a:tcPr>
                    <a:solidFill>
                      <a:srgbClr val="F60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208">
                <a:tc>
                  <a:txBody>
                    <a:bodyPr/>
                    <a:lstStyle/>
                    <a:p>
                      <a:r>
                        <a:t>S08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68.2</a:t>
                      </a:r>
                    </a:p>
                  </a:txBody>
                  <a:tcPr>
                    <a:solidFill>
                      <a:srgbClr val="19E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118.3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0.546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Pr/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Solid Background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SolidBackground('#E8F0FE')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75" y="152400"/>
            <a:ext cx="85725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F4E79"/>
                </a:solidFill>
                <a:latin typeface="Helvetica"/>
              </a:rPr>
              <a:t>This slide uses a solid background color.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Pr>
      <a:gradFill>
        <a:lin ang="007B98A0" scaled="0"/>
        <a:gsLst>
          <a:gs pos="0">
            <a:srgbClr val="1A237E"/>
          </a:gs>
          <a:gs pos="100000">
            <a:srgbClr val="FF5722"/>
          </a:gs>
        </a:gsLst>
      </a:gradFill>
    </p:bgPr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Gradient Background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GradientBackground('#1A237E', '#FF5722', angle=135)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75" y="152400"/>
            <a:ext cx="85725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Helvetica-Bold"/>
              </a:rPr>
              <a:t>This slide uses a pronounced linear gradient.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Pr/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i="0" sz="2000">
                <a:solidFill>
                  <a:srgbClr val="1F4E79"/>
                </a:solidFill>
                <a:latin typeface="Helvetica"/>
              </a:defRPr>
            </a:pPr>
            <a:r>
              <a:t>Image Background</a:t>
            </a:r>
          </a:p>
          <a:p>
            <a:pPr algn="l">
              <a:defRPr b="0" i="0" sz="1100">
                <a:solidFill>
                  <a:srgbClr val="666666"/>
                </a:solidFill>
                <a:latin typeface="Helvetica"/>
              </a:defRPr>
            </a:pPr>
            <a:r>
              <a:t>ImageBackground('bg_pattern.png', opacity=0.85)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15146"/>
            <a:ext cx="89535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75" y="152400"/>
            <a:ext cx="85725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Helvetica-Bold"/>
              </a:rPr>
              <a:t>This slide uses an image as background.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Pr/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626745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0" i="0" sz="2600">
                <a:solidFill>
                  <a:srgbClr val="1565C0"/>
                </a:solidFill>
                <a:latin typeface="Times-Bold"/>
              </a:defRPr>
            </a:pPr>
            <a:r>
              <a:t>Custom Title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6270" y="8466"/>
            <a:ext cx="268605" cy="1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0" i="1" sz="1200">
                <a:solidFill>
                  <a:srgbClr val="757575"/>
                </a:solidFill>
                <a:latin typeface="Helvetica-Oblique"/>
              </a:defRPr>
            </a:pPr>
            <a:r>
              <a:t>Subtitle beside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" y="169333"/>
            <a:ext cx="857250" cy="694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Helvetica"/>
              </a:rPr>
              <a:t>Title: Times-Bold 26pt, left.
Subtitle: Helvetica-Oblique 12pt italic, right (width=30%).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118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0" sz="2400">
                <a:solidFill>
                  <a:srgbClr val="2E7D32"/>
                </a:solidFill>
                <a:latin typeface="Helvetica"/>
              </a:defRPr>
            </a:pPr>
            <a:r>
              <a:t>BELOW Subtitle Placement</a:t>
            </a:r>
          </a:p>
          <a:p>
            <a:pPr algn="ctr">
              <a:defRPr b="0" i="0" sz="1300">
                <a:solidFill>
                  <a:srgbClr val="558B2F"/>
                </a:solidFill>
                <a:latin typeface="Helvetica"/>
              </a:defRPr>
            </a:pPr>
            <a:r>
              <a:t>Separator enabled, centered, taller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" y="149013"/>
            <a:ext cx="895350" cy="254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575" y="186266"/>
            <a:ext cx="857250" cy="67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Helvetica"/>
              </a:rPr>
              <a:t>Subtitle below title, centered, with green separator.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